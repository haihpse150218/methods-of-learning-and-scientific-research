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1695" cy="3657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0" b="1" i="0">
                <a:solidFill>
                  <a:srgbClr val="0066CC"/>
                </a:solidFill>
                <a:latin typeface="Segoe UI"/>
              </a:rPr>
              <a:t>HarnessEval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Evaluating Coding Agent Scaffolds 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Ablation-Driven Multi-Dimensional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dirty="0">
                <a:solidFill>
                  <a:srgbClr val="555555"/>
                </a:solidFill>
                <a:latin typeface="Segoe UI"/>
              </a:rPr>
              <a:t>A unified framework for decomposing harness quality from base LLM 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Segoe UI"/>
              </a:rPr>
              <a:t>Methods of Learning &amp; Scientific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  <a:latin typeface="Segoe UI"/>
              </a:rPr>
              <a:t>FPT School of Business and Technology (FSB)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Research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2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C3333"/>
                </a:solidFill>
                <a:latin typeface="Segoe UI"/>
              </a:rPr>
              <a:t>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800" b="1" i="0" dirty="0">
                <a:solidFill>
                  <a:srgbClr val="1A1A2E"/>
                </a:solidFill>
                <a:latin typeface="Segoe UI"/>
              </a:rPr>
              <a:t>[Assoc. Prof. Dr. </a:t>
            </a:r>
            <a:r>
              <a:rPr lang="en-US" sz="1800" b="1" i="0" dirty="0" err="1">
                <a:solidFill>
                  <a:srgbClr val="1A1A2E"/>
                </a:solidFill>
                <a:latin typeface="Segoe UI"/>
              </a:rPr>
              <a:t>Hồ</a:t>
            </a:r>
            <a:r>
              <a:rPr lang="en-US" sz="1800" b="1" i="0" dirty="0">
                <a:solidFill>
                  <a:srgbClr val="1A1A2E"/>
                </a:solidFill>
                <a:latin typeface="Segoe UI"/>
              </a:rPr>
              <a:t> Văn </a:t>
            </a:r>
            <a:r>
              <a:rPr lang="en-US" sz="1800" b="1" i="0" dirty="0" err="1">
                <a:solidFill>
                  <a:srgbClr val="1A1A2E"/>
                </a:solidFill>
                <a:latin typeface="Segoe UI"/>
              </a:rPr>
              <a:t>Khương</a:t>
            </a:r>
            <a:r>
              <a:rPr lang="en-US" sz="1800" b="1" i="0" dirty="0">
                <a:solidFill>
                  <a:srgbClr val="1A1A2E"/>
                </a:solidFill>
                <a:latin typeface="Segoe UI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32" y="1792912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Segoe UI"/>
              </a:rPr>
              <a:t>FPT School of Business and Technology (FSB)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C3333"/>
                </a:solidFill>
                <a:latin typeface="Segoe UI"/>
              </a:rPr>
              <a:t>Team Members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0" y="3017520"/>
          <a:ext cx="5760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Segoe UI"/>
                        </a:rPr>
                        <a:t>Full Name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Segoe UI"/>
                        </a:rPr>
                        <a:t>Student ID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Lê Lâm Vĩnh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25MS23328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Hoàng Phi Hải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25MS23323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Đỗ Hoàng Tỷ Phú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25MS23327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Trịnh Hữu Tuấn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25MS23315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Trần Quang Tuấn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25MS23331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3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1A1A2E"/>
                </a:solidFill>
                <a:latin typeface="Segoe UI"/>
              </a:rPr>
              <a:t>1. Problem — the evaluation paradox</a:t>
            </a:r>
          </a:p>
          <a:p>
            <a:pPr algn="l"/>
            <a:r>
              <a:rPr sz="1800" b="0" i="0" dirty="0">
                <a:solidFill>
                  <a:srgbClr val="1A1A2E"/>
                </a:solidFill>
                <a:latin typeface="Segoe UI"/>
              </a:rPr>
              <a:t>2. Research gap — three reasons</a:t>
            </a:r>
          </a:p>
          <a:p>
            <a:pPr algn="l"/>
            <a:r>
              <a:rPr sz="1800" b="0" i="0" dirty="0">
                <a:solidFill>
                  <a:srgbClr val="1A1A2E"/>
                </a:solidFill>
                <a:latin typeface="Segoe UI"/>
              </a:rPr>
              <a:t>3. Aim &amp; 5 objectives</a:t>
            </a:r>
          </a:p>
          <a:p>
            <a:pPr algn="l"/>
            <a:r>
              <a:rPr sz="1800" b="0" i="0" dirty="0">
                <a:solidFill>
                  <a:srgbClr val="1A1A2E"/>
                </a:solidFill>
                <a:latin typeface="Segoe UI"/>
              </a:rPr>
              <a:t>4. Hypotheses H1–H4</a:t>
            </a:r>
          </a:p>
          <a:p>
            <a:pPr algn="l"/>
            <a:r>
              <a:rPr sz="1800" b="0" i="0" dirty="0">
                <a:solidFill>
                  <a:srgbClr val="1A1A2E"/>
                </a:solidFill>
                <a:latin typeface="Segoe UI"/>
              </a:rPr>
              <a:t>5. Taxonomy: 3 dimensions, 7 metrics</a:t>
            </a:r>
          </a:p>
          <a:p>
            <a:pPr algn="l"/>
            <a:r>
              <a:rPr sz="1800" b="0" i="0" dirty="0">
                <a:solidFill>
                  <a:srgbClr val="1A1A2E"/>
                </a:solidFill>
                <a:latin typeface="Segoe UI"/>
              </a:rPr>
              <a:t>6. Modular Harness architecture</a:t>
            </a:r>
          </a:p>
          <a:p>
            <a:pPr algn="l"/>
            <a:r>
              <a:rPr sz="1800" b="0" i="0" dirty="0">
                <a:solidFill>
                  <a:srgbClr val="1A1A2E"/>
                </a:solidFill>
                <a:latin typeface="Segoe UI"/>
              </a:rPr>
              <a:t>7. Methodology — 4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303520" cy="502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Segoe UI"/>
              </a:rPr>
              <a:t>8. Ablation design 27×150</a:t>
            </a:r>
          </a:p>
          <a:p>
            <a:pPr algn="l"/>
            <a:r>
              <a:rPr sz="1800" b="0" i="0">
                <a:solidFill>
                  <a:srgbClr val="1A1A2E"/>
                </a:solidFill>
                <a:latin typeface="Segoe UI"/>
              </a:rPr>
              <a:t>9. Two-way ANOVA</a:t>
            </a:r>
          </a:p>
          <a:p>
            <a:pPr algn="l"/>
            <a:r>
              <a:rPr sz="1800" b="0" i="0">
                <a:solidFill>
                  <a:srgbClr val="1A1A2E"/>
                </a:solidFill>
                <a:latin typeface="Segoe UI"/>
              </a:rPr>
              <a:t>10. Threats &amp; Risks</a:t>
            </a:r>
          </a:p>
          <a:p>
            <a:pPr algn="l"/>
            <a:r>
              <a:rPr sz="1800" b="0" i="0">
                <a:solidFill>
                  <a:srgbClr val="1A1A2E"/>
                </a:solidFill>
                <a:latin typeface="Segoe UI"/>
              </a:rPr>
              <a:t>11. Timeline &amp; budget</a:t>
            </a:r>
          </a:p>
          <a:p>
            <a:pPr algn="l"/>
            <a:r>
              <a:rPr sz="1800" b="0" i="0">
                <a:solidFill>
                  <a:srgbClr val="1A1A2E"/>
                </a:solidFill>
                <a:latin typeface="Segoe UI"/>
              </a:rPr>
              <a:t>12. Implementation status (167 tests)</a:t>
            </a:r>
          </a:p>
          <a:p>
            <a:pPr algn="l"/>
            <a:r>
              <a:rPr sz="1800" b="0" i="0">
                <a:solidFill>
                  <a:srgbClr val="1A1A2E"/>
                </a:solidFill>
                <a:latin typeface="Segoe UI"/>
              </a:rPr>
              <a:t>13. Preliminary empirical results</a:t>
            </a:r>
          </a:p>
          <a:p>
            <a:pPr algn="l"/>
            <a:r>
              <a:rPr sz="1800" b="0" i="0">
                <a:solidFill>
                  <a:srgbClr val="1A1A2E"/>
                </a:solidFill>
                <a:latin typeface="Segoe UI"/>
              </a:rPr>
              <a:t>14. Contributions &amp; publishability</a:t>
            </a:r>
          </a:p>
          <a:p>
            <a:pPr algn="l"/>
            <a:r>
              <a:rPr sz="1800" b="0" i="0">
                <a:solidFill>
                  <a:srgbClr val="1A1A2E"/>
                </a:solidFill>
                <a:latin typeface="Segoe UI"/>
              </a:rPr>
              <a:t>15.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1. Problem: The Evaluation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Segoe UI"/>
              </a:rPr>
              <a:t>The performance of a coding agent depends on two factors: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A. Base LLM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Claude, GPT, DeepSeek, Qwen…
Many benchmarks already evaluate this.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B. Harness / Scaffold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Tool system, context manager, orchestration…
"The operating system of the agent" [A1]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1088136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 dirty="0">
                <a:solidFill>
                  <a:srgbClr val="1A1A2E"/>
                </a:solidFill>
                <a:latin typeface="Segoe UI"/>
              </a:rPr>
              <a:t>Evidence: Lou et al. (2026)</a:t>
            </a:r>
            <a:r>
              <a:rPr lang="en-US" sz="1100" dirty="0">
                <a:solidFill>
                  <a:srgbClr val="1A1A2E"/>
                </a:solidFill>
                <a:latin typeface="Segoe UI"/>
              </a:rPr>
              <a:t>  [2]</a:t>
            </a:r>
            <a:r>
              <a:rPr sz="1100" dirty="0">
                <a:solidFill>
                  <a:srgbClr val="1A1A2E"/>
                </a:solidFill>
                <a:latin typeface="Segoe UI"/>
              </a:rPr>
              <a:t> — a small model with a good harness can beat a large model with a weak harness, reducing invalid actions by 100%.  Bui et al. (2026) [1] — Adaptive Context Compaction cuts token usage by 54%.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54864" cy="1371600"/>
          </a:xfrm>
          <a:prstGeom prst="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10881360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The paradox: when we report "Agent A scored 70%," we do NOT know which harness component contributed to that result.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80560"/>
            <a:ext cx="54864" cy="13716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2. Research Gap: Three Genuine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5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Segoe UI"/>
              </a:rPr>
              <a:t>Analysis of 49 papers (2023–2026): no work systematically evaluates the harness itself [S5].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1. Role mismatch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Princeton (SWE-Agent), Anthropic (Claude Code) are developers — incentivized to ship new harnesses, not to compare systems as evaluators.
Analogy: car makers vs Euro NCAP / IIHS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2. Field moving too fast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2023–2026: from a handful of harnesses to dozens. Nobody has paused to meta-evaluate while still racing to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3. Only indirect evidence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Lou et al. compared harnesses on game tasks [A2]. Robeyns et al. self-improved a harness but did NOT measure each component [B10].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Research gap: No framework exists to (a) measure the quality of individual harness components, (b) decompose harness vs base-LLM contribution, (c) compare harnesses on unified quality dimensions.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54880"/>
            <a:ext cx="54864" cy="1371600"/>
          </a:xfrm>
          <a:prstGeom prst="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2.1. What Exists vs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6 /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Segoe UI"/>
                        </a:rPr>
                        <a:t>What exists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Segoe UI"/>
                        </a:rPr>
                        <a:t>What is missing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Measuring agent output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SWE-bench, SWE-Compass, AgentBoard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Tool accuracy in isolation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ToolLLM, AnyTool, Gorilla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Tool use INSIDE a coding harness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Memory in isolation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Mem0, A-MEM (on chatbots)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Memory INSIDE a coding harness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Harness design description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OpenDev, AutoHarness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Measuring harness quality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Cross-backend comparison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Completely unaddressed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Separating harness vs LLM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2E"/>
                          </a:solidFill>
                          <a:latin typeface="Segoe UI"/>
                        </a:rPr>
                        <a:t>Completely unaddressed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3. Aim + 5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7 /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Aim: Build the FIRST UNIFIED EVALUATION FRAMEWORK for coding-agent harnesses, enabling decomposition and quantification of each harness component's contribution to agent performance, INDEPENDENT of the base LLM.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864" cy="1280160"/>
          </a:xfrm>
          <a:prstGeom prst="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Obj.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Success criterion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1A1A2E"/>
                          </a:solidFill>
                          <a:latin typeface="Segoe UI"/>
                        </a:rPr>
                        <a:t>Taxonomy: 3 dimensions, 7 metrics, validated by 5 experts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Fleiss κ ≥ 0.6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Fork &amp; refactor SWE-Agent into a modular harness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± 3% of original SWE-Agent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Ablation: 150 tasks × 27 conditions (3×3×3) + pilot study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7,050 evaluations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O4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Two-way ANOVA decomposing harness vs LLM variance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p &lt; 0.05 (Bonferroni)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O5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Release open-source toolkit on GitHub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1A1A2E"/>
                          </a:solidFill>
                          <a:latin typeface="Segoe UI"/>
                        </a:rPr>
                        <a:t>Docs + CI/CD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5669280"/>
            <a:ext cx="54864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4. Research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8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H1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Tool system has the LARGEST effect size (Cohen's d &gt; 0.5) among the three harness components on resolve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H2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Context management has a MEDIUM effect size (Cohen's d 0.3 – 0.5).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H3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Harness configuration explains AT LEAST 20% of resolve-rate variance (η² ≥ 0.20), independent of the LLM backend.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H4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Variance across LLM backends DECREASES when harness quality is higher (statistically significant interaction effect).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solidFill>
            <a:srgbClr val="F0F9F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Neutral framing — no specific numbers predicted. Only testable directions → avoid confirmation bias. Supporting OR refuting a hypothesis is equally valuable.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77840"/>
            <a:ext cx="54864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5. Taxonomy: 3 Dimensions — 7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9 /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Dim.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Definition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Measurement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D1
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M1.1 Correct Selection 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% calls picking from acceptable tool 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2 annotators, Fleiss κ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D1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M1.2 Redundant Call Rate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% calls whose output unused in next 3 turns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Auto log analysis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M1.3 Utilization Breadth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unique tools used / total available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Auto log analysis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D2
Context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M2.1 Info Retention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BERTScore: full vs compacted output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30 human-preference pairs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M2.2 Effective Token Ratio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% tokens relevant to current task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LLM classifier + 200 labels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D3
Backend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M3.1 Cross-Backend StdDev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std(resolve rate) across 3 LLMs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Direct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M3.2 Min/Max Ratio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min(RR) / max(RR)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Higher = more portable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669280"/>
            <a:ext cx="54864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6. Modular Harness — 3 Swappable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10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00584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25400">
            <a:solidFill>
              <a:srgbClr val="CC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/>
          <a:p>
            <a:pPr algn="l"/>
            <a:r>
              <a:rPr sz="1600" b="1">
                <a:solidFill>
                  <a:srgbClr val="CC3333"/>
                </a:solidFill>
                <a:latin typeface="Segoe UI"/>
              </a:rPr>
              <a:t>LAYER 1: Tool Dispatch — ToolProvider</a:t>
            </a:r>
          </a:p>
          <a:p>
            <a:pPr algn="l"/>
            <a:r>
              <a:rPr sz="1200">
                <a:solidFill>
                  <a:srgbClr val="555555"/>
                </a:solidFill>
                <a:latin typeface="Segoe UI"/>
              </a:rPr>
              <a:t>Full (12 tools)   |   Medium (8)   |   Minimal (5)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574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254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/>
          <a:p>
            <a:pPr algn="l"/>
            <a:r>
              <a:rPr sz="1600" b="1">
                <a:solidFill>
                  <a:srgbClr val="E65100"/>
                </a:solidFill>
                <a:latin typeface="Segoe UI"/>
              </a:rPr>
              <a:t>LAYER 2: Context Management — ContextStrategy</a:t>
            </a:r>
          </a:p>
          <a:p>
            <a:pPr algn="l"/>
            <a:r>
              <a:rPr sz="1200">
                <a:solidFill>
                  <a:srgbClr val="555555"/>
                </a:solidFill>
                <a:latin typeface="Segoe UI"/>
              </a:rPr>
              <a:t>Full History   |   Sliding Window (50K)   |   Summary / ACC (2K)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10896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91440" rIns="182880" bIns="91440" rtlCol="0" anchor="ctr"/>
          <a:lstStyle/>
          <a:p>
            <a:pPr algn="l"/>
            <a:r>
              <a:rPr sz="1600" b="1">
                <a:solidFill>
                  <a:srgbClr val="2E7D32"/>
                </a:solidFill>
                <a:latin typeface="Segoe UI"/>
              </a:rPr>
              <a:t>LAYER 3: LLM Backend — LLMBackend</a:t>
            </a:r>
          </a:p>
          <a:p>
            <a:pPr algn="l"/>
            <a:r>
              <a:rPr sz="1200">
                <a:solidFill>
                  <a:srgbClr val="555555"/>
                </a:solidFill>
                <a:latin typeface="Segoe UI"/>
              </a:rPr>
              <a:t>Claude Sonnet 4   |   GPT-4o   |   DeepSeek-V3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L4 Safety &amp; Permission — 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L5 Orchestration — kept unchanged from SWE-Agent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F0F7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Techniques: Strategy Pattern + Dependency Injection + Factory Pattern. Each layer is swapped via a YAML config. Forked from SWE-Agent (MIT, ~15k LOC).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12080"/>
            <a:ext cx="54864" cy="10972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7. Methodology — Four Experimental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11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P1 — Taxonomy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5 experts validate metrics.
Fleiss κ ≥ 0.6.
Weeks 1–6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18872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P1.5 — Pilot (v2)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5 cond × 20 tasks × 2 runs = 200 evals.
Cost ~$80.
Weeks 7–8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P2 — Modular Fork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SWE-Agent refactor.
Verify ±3% on 50 tasks.
Weeks 9–11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188720"/>
            <a:ext cx="2697480" cy="27432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P3 — Full Ablation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27 cond × 150 tasks = 7,050 evals.
Weeks 12–18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97680"/>
            <a:ext cx="11430000" cy="1828800"/>
          </a:xfrm>
          <a:prstGeom prst="rect">
            <a:avLst/>
          </a:prstGeom>
          <a:solidFill>
            <a:srgbClr val="F0F7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Why a pilot? Validate that metrics actually discriminate between conditions, estimate cost accurately, debug the pipeline, and compute preliminary effect sizes for power analysis. Prevents BLIND COMMITMENT to the expensive full experiment.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97680"/>
            <a:ext cx="54864" cy="1828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8. Ablation Design: 27 = 3 × 3 ×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12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37160" rIns="45720" rtlCol="0" anchor="ctr"/>
          <a:lstStyle/>
          <a:p>
            <a:pPr algn="ctr"/>
            <a:r>
              <a:rPr sz="3600" b="1">
                <a:solidFill>
                  <a:srgbClr val="0066CC"/>
                </a:solidFill>
                <a:latin typeface="Segoe UI"/>
              </a:rPr>
              <a:t>27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Segoe UI"/>
              </a:rPr>
              <a:t>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058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37160" rIns="45720" rtlCol="0" anchor="ctr"/>
          <a:lstStyle/>
          <a:p>
            <a:pPr algn="ctr"/>
            <a:r>
              <a:rPr sz="3600" b="1">
                <a:solidFill>
                  <a:srgbClr val="0066CC"/>
                </a:solidFill>
                <a:latin typeface="Segoe UI"/>
              </a:rPr>
              <a:t>150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Segoe UI"/>
              </a:rPr>
              <a:t>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0058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37160" rIns="45720" rtlCol="0" anchor="ctr"/>
          <a:lstStyle/>
          <a:p>
            <a:pPr algn="ctr"/>
            <a:r>
              <a:rPr sz="3600" b="1">
                <a:solidFill>
                  <a:srgbClr val="0066CC"/>
                </a:solidFill>
                <a:latin typeface="Segoe UI"/>
              </a:rPr>
              <a:t>7,050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Segoe UI"/>
              </a:rPr>
              <a:t>EVALUATIONS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0058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37160" rIns="45720" rtlCol="0" anchor="ctr"/>
          <a:lstStyle/>
          <a:p>
            <a:pPr algn="ctr"/>
            <a:r>
              <a:rPr sz="3600" b="1">
                <a:solidFill>
                  <a:srgbClr val="0066CC"/>
                </a:solidFill>
                <a:latin typeface="Segoe UI"/>
              </a:rPr>
              <a:t>~$2.5k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Segoe UI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65176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Factor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Level 1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Level 2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Level 3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Tool Config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Full (12 tools)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Medium (8)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Minimal (5)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Context Strategy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Full History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Sliding Window 50K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Summary / ACC 2K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Segoe UI"/>
                        </a:rPr>
                        <a:t>LLM 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Claude Sonnet 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GPT-4o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Segoe UI"/>
                        </a:rPr>
                        <a:t>DeepSeek-V3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754880"/>
            <a:ext cx="11430000" cy="1371600"/>
          </a:xfrm>
          <a:prstGeom prst="rect">
            <a:avLst/>
          </a:prstGeom>
          <a:solidFill>
            <a:srgbClr val="F0F7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Dataset: 150 tasks from SWE-bench Verified, stratified random sampling by difficulty.
Runs: 10 critical conditions × 3 runs + 17 conditions × 1 run.
Power analysis: α = 0.05, power ≥ 0.80.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0"/>
            <a:ext cx="54864" cy="13716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9. Two-Way ANOVA — Decomposing Harness vs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13 /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"Independent of the LLM" does NOT mean harness and LLM are uncorrelated. It means we can DECOMPOSE the variance due to harness vs the variance due to LLM.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864" cy="1097280"/>
          </a:xfrm>
          <a:prstGeom prst="rect">
            <a:avLst/>
          </a:prstGeom>
          <a:solidFill>
            <a:srgbClr val="FF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2560320"/>
          </a:xfrm>
          <a:prstGeom prst="rect">
            <a:avLst/>
          </a:prstGeom>
          <a:solidFill>
            <a:srgbClr val="F5F7FA"/>
          </a:solidFill>
          <a:ln w="9525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300">
                <a:solidFill>
                  <a:srgbClr val="1A1A2E"/>
                </a:solidFill>
                <a:latin typeface="Consolas"/>
              </a:rPr>
              <a:t>Total Variance = Var(Harness) + Var(LLM) + Var(Harness × LLM) + Error</a:t>
            </a:r>
          </a:p>
          <a:p>
            <a:pPr algn="l"/>
            <a:endParaRPr sz="1300">
              <a:solidFill>
                <a:srgbClr val="1A1A2E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A1A2E"/>
                </a:solidFill>
                <a:latin typeface="Consolas"/>
              </a:rPr>
              <a:t>Factor A: Harness config   (9 levels: 3 tools × 3 contexts)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onsolas"/>
              </a:rPr>
              <a:t>Factor B: LLM backend      (3 levels: Claude, GPT, DeepSeek)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onsolas"/>
              </a:rPr>
              <a:t>DV:        Resolve rate</a:t>
            </a:r>
          </a:p>
          <a:p>
            <a:pPr algn="l"/>
            <a:endParaRPr sz="1300">
              <a:solidFill>
                <a:srgbClr val="1A1A2E"/>
              </a:solidFill>
              <a:latin typeface="Consolas"/>
            </a:endParaRPr>
          </a:p>
          <a:p>
            <a:pPr algn="l"/>
            <a:r>
              <a:rPr sz="1300">
                <a:solidFill>
                  <a:srgbClr val="1A1A2E"/>
                </a:solidFill>
                <a:latin typeface="Consolas"/>
              </a:rPr>
              <a:t>If Var(Harness) significant   →  harness has an INDEPENDENT effect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onsolas"/>
              </a:rPr>
              <a:t>If Var(H × LLM) significant   →  there is an INTERACTION</a:t>
            </a:r>
          </a:p>
          <a:p>
            <a:pPr algn="l"/>
            <a:r>
              <a:rPr sz="1300">
                <a:solidFill>
                  <a:srgbClr val="1A1A2E"/>
                </a:solidFill>
                <a:latin typeface="Consolas"/>
              </a:rPr>
              <a:t>η² (eta-squared)              →  % of variance explained per factor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F0F9F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Main theoretical contribution: formalizing how to SEPARATE harness quality from LLM quality. Post-hoc: Tukey HSD, Cohen's d, Bonferroni correction for 7 metrics.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54864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10. Threats to Validity &amp;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C3333"/>
                </a:solidFill>
                <a:latin typeface="Segoe UI"/>
              </a:rPr>
              <a:t>Threats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Internal: tool-removal confound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Reduce 12→8→5; log per-task tool needs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Internal: LLM non-determinism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Temperature = 0; 3 runs critical conds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External: Python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Caution when generalizing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Construct: M1.1 annotator-dependent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2 annotators, Fleiss κ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CC3333"/>
                </a:solidFill>
                <a:latin typeface="Segoe UI"/>
              </a:rPr>
              <a:t>Top Risks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716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API cost overrun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Pilot estimates; DeepSeek cheap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Docker env instability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Med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Pre-filter, retry ×2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Metrics not discriminative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Detected early via pilot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DeepSeek API unstable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Backup: Qwen2.5-72B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937760"/>
            <a:ext cx="54864" cy="11887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11. Timeline (24 weeks) &amp;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15 /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Weeks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Content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Deliverable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1–6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Taxonomy + expert validation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Taxonomy v1.0, κ report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P1.5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7–8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Pilot study (200 evals)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Metrics validation, cost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9–11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Fork SWE-Agent + modular refactor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Modular harness v1.0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P3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12–18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Full ablation (7,050 evals)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Raw data, ANOVA results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P4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19–22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Analysis + guidelines + thesis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Draft thesis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P5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23–24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Review, revisions, toolkit release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Final + GitHub release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48056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Estimated budget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Pilot:               ~$80
Full experiment:     ~$2,500
Contingency:         ~$500
TOTAL:               $2,500 – $3,100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48056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v1 vs v2 comparison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v1: $800–1,200 (unrealistic)
v2: $2,500–3,100 (incl. retry + pilot)
Evaluations: 16,000 → 7,050 (-56%)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12. Implementation Status —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16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37160" rIns="45720" rtlCol="0" anchor="ctr"/>
          <a:lstStyle/>
          <a:p>
            <a:pPr algn="ctr"/>
            <a:r>
              <a:rPr sz="3600" b="1">
                <a:solidFill>
                  <a:srgbClr val="0066CC"/>
                </a:solidFill>
                <a:latin typeface="Segoe UI"/>
              </a:rPr>
              <a:t>167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Segoe UI"/>
              </a:rPr>
              <a:t>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058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37160" rIns="45720" rtlCol="0" anchor="ctr"/>
          <a:lstStyle/>
          <a:p>
            <a:pPr algn="ctr"/>
            <a:r>
              <a:rPr sz="3600" b="1">
                <a:solidFill>
                  <a:srgbClr val="0066CC"/>
                </a:solidFill>
                <a:latin typeface="Segoe UI"/>
              </a:rPr>
              <a:t>9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Segoe UI"/>
              </a:rPr>
              <a:t>PHASES 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0058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37160" rIns="45720" rtlCol="0" anchor="ctr"/>
          <a:lstStyle/>
          <a:p>
            <a:pPr algn="ctr"/>
            <a:r>
              <a:rPr sz="3600" b="1">
                <a:solidFill>
                  <a:srgbClr val="0066CC"/>
                </a:solidFill>
                <a:latin typeface="Segoe UI"/>
              </a:rPr>
              <a:t>27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Segoe UI"/>
              </a:rPr>
              <a:t>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00584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137160" rIns="45720" rtlCol="0" anchor="ctr"/>
          <a:lstStyle/>
          <a:p>
            <a:pPr algn="ctr"/>
            <a:r>
              <a:rPr sz="3600" b="1">
                <a:solidFill>
                  <a:srgbClr val="0066CC"/>
                </a:solidFill>
                <a:latin typeface="Segoe UI"/>
              </a:rPr>
              <a:t>360</a:t>
            </a:r>
          </a:p>
          <a:p>
            <a:pPr algn="ctr"/>
            <a:r>
              <a:rPr sz="1000">
                <a:solidFill>
                  <a:srgbClr val="555555"/>
                </a:solidFill>
                <a:latin typeface="Segoe UI"/>
              </a:rPr>
              <a:t>TRAJECTORIES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C3333"/>
                </a:solidFill>
                <a:latin typeface="Segoe UI"/>
              </a:rPr>
              <a:t>Toolkit  harness_eval/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486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configs/  — 27 conditions (3×3×3)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metrics/  — 7 metrics M1.1–M3.2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parsers/trajectory.py — SWE-Agent log parser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pipeline/analysis.py  — ANOVA, Cohen's d, GLMM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pipeline/runner.py    — Dry-run + SWE-Agent + Ollama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harness/  — 3 ABCs + 9 providers + factory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cli.py    — info / pilot / run / analyze / convert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60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C3333"/>
                </a:solidFill>
                <a:latin typeface="Segoe UI"/>
              </a:rPr>
              <a:t>Streamlit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71800"/>
            <a:ext cx="54864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5 tabs: Config / Run Monitor / Logs / Compare / ANOVA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Run modes: ollama / dry-run / real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Parallel ThreadPoolExecutor (4 workers)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150 SWE-bench tasks embedded (difficulty-aware)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Ollama: qwen2.5:7b, deepseek-r1:1.5b</a:t>
            </a:r>
          </a:p>
          <a:p>
            <a:pPr algn="l"/>
            <a:r>
              <a:rPr sz="1100" b="0" i="0">
                <a:solidFill>
                  <a:srgbClr val="1A1A2E"/>
                </a:solidFill>
                <a:latin typeface="Segoe UI"/>
              </a:rPr>
              <a:t>• One-click setup: start_harness_eval.sh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13. Preliminary Results — Empirical ANOVA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17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Segoe UI"/>
              </a:rPr>
              <a:t>Run on current trajectories/: 360 observations, 18 conditions (2 backends: claude + sonnet)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858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η²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F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p-value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Sig?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0.0539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10.264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&lt; 0.001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***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0.0248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4.723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0.0095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**</a:t>
                      </a:r>
                    </a:p>
                  </a:txBody>
                  <a:tcPr marL="73152" marR="73152" marT="36576" marB="36576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0.0025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0.959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0.3282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Tool × Context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0.0058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0.550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0.6988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Tool × 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0.0069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1.314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0.2701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Context × Backend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0.0069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1.314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0.2701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Error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0.8979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1371600"/>
            <a:ext cx="4297680" cy="3291840"/>
          </a:xfrm>
          <a:prstGeom prst="rect">
            <a:avLst/>
          </a:prstGeom>
          <a:solidFill>
            <a:srgbClr val="F0F9F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37160" bIns="91440" rtlCol="0" anchor="ctr"/>
          <a:lstStyle/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Preliminary observations:
• Tool has the largest effect (η²=0.054 &gt; Context=0.025) — H1 direction supported.
• Context has a medium, statistically significant effect — H2 direction supported.
• Backend has only 2 levels (haiku empty); H4 needs the full design.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371600"/>
            <a:ext cx="54864" cy="32918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Segoe UI"/>
              </a:rPr>
              <a:t>Note: current data is realistic dry-run, not yet real SWE-bench runs. Empirical results follow after Phase P3.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14. Contributions &amp; Publishability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91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Segoe UI"/>
              </a:rPr>
              <a:t>18 /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Theoretical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Formalizing how to separate harness quality from LLM quality via two-way ANOVA.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058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Empirical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First quantitative decomposition of each harness component (Tool / Context / Backend).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0584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AFBFD"/>
          </a:solidFill>
          <a:ln w="12700">
            <a:solidFill>
              <a:srgbClr val="DC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400" b="1">
                <a:solidFill>
                  <a:srgbClr val="0066CC"/>
                </a:solidFill>
                <a:latin typeface="Segoe UI"/>
              </a:rPr>
              <a:t>Toolkit</a:t>
            </a:r>
          </a:p>
          <a:p>
            <a:pPr algn="l"/>
            <a:r>
              <a:rPr sz="1100">
                <a:solidFill>
                  <a:srgbClr val="1A1A2E"/>
                </a:solidFill>
                <a:latin typeface="Segoe UI"/>
              </a:rPr>
              <a:t>Reusable evaluation framework — open-source on GitHub, docs, CI/CD.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C3333"/>
                </a:solidFill>
                <a:latin typeface="Segoe UI"/>
              </a:rPr>
              <a:t>Practical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• Developers — know which harness component to prioritize for improvement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• Researchers — standard framework to compare new harnesses</a:t>
            </a:r>
          </a:p>
          <a:p>
            <a:pPr algn="l"/>
            <a:r>
              <a:rPr sz="1200" b="0" i="0">
                <a:solidFill>
                  <a:srgbClr val="1A1A2E"/>
                </a:solidFill>
                <a:latin typeface="Segoe UI"/>
              </a:rPr>
              <a:t>• Industry — data-driven guidelines for harness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CC3333"/>
                </a:solidFill>
                <a:latin typeface="Segoe UI"/>
              </a:rPr>
              <a:t>Publishability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16636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Venue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1A1A2E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  <a:latin typeface="Segoe UI"/>
                        </a:rPr>
                        <a:t>Fit</a:t>
                      </a:r>
                    </a:p>
                  </a:txBody>
                  <a:tcPr marL="73152" marR="73152" marT="36576" marB="36576"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ICSE 2027 NIER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Conference (New Ideas)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Strong fit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MSR 2027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Conference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Fit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LLM Agents Workshop (NeurIPS/ICML)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Workshop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Fit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EMNLP Demo Track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2E"/>
                          </a:solidFill>
                          <a:latin typeface="Segoe UI"/>
                        </a:rPr>
                        <a:t>Demo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1A1A2E"/>
                          </a:solidFill>
                          <a:latin typeface="Segoe UI"/>
                        </a:rPr>
                        <a:t>Fit</a:t>
                      </a:r>
                    </a:p>
                  </a:txBody>
                  <a:tcPr marL="73152" marR="73152" marT="36576" marB="36576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0" b="1" i="0" dirty="0">
                <a:solidFill>
                  <a:srgbClr val="0066CC"/>
                </a:solidFill>
                <a:latin typeface="Segoe U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1A1A2E"/>
                </a:solidFill>
                <a:latin typeface="Segoe UI"/>
              </a:rPr>
              <a:t>and thoughtful questions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1386C6-2915-6DC5-AF03-0A3C7177DD3E}"/>
              </a:ext>
            </a:extLst>
          </p:cNvPr>
          <p:cNvSpPr txBox="1"/>
          <p:nvPr/>
        </p:nvSpPr>
        <p:spPr>
          <a:xfrm>
            <a:off x="457200" y="412955"/>
            <a:ext cx="112471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200" b="0" i="0" dirty="0">
                <a:solidFill>
                  <a:srgbClr val="1A1A2E"/>
                </a:solidFill>
                <a:latin typeface="Segoe UI"/>
              </a:rPr>
              <a:t>References</a:t>
            </a:r>
            <a:endParaRPr sz="2200" b="0" i="0" dirty="0">
              <a:solidFill>
                <a:srgbClr val="1A1A2E"/>
              </a:solidFill>
              <a:latin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0249E-97C9-02E2-4ED0-6852C451FBF2}"/>
              </a:ext>
            </a:extLst>
          </p:cNvPr>
          <p:cNvSpPr txBox="1"/>
          <p:nvPr/>
        </p:nvSpPr>
        <p:spPr>
          <a:xfrm>
            <a:off x="280218" y="910958"/>
            <a:ext cx="11685639" cy="3877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55555"/>
                </a:solidFill>
                <a:latin typeface="Segoe UI"/>
              </a:rPr>
              <a:t>[1] N. D. Q. Bui et al., “Building Effective AI Coding Agents for the Terminal: </a:t>
            </a:r>
            <a:r>
              <a:rPr lang="en-US" sz="1200" b="1" i="0" dirty="0" err="1">
                <a:solidFill>
                  <a:srgbClr val="555555"/>
                </a:solidFill>
                <a:latin typeface="Segoe UI"/>
              </a:rPr>
              <a:t>Scaffolding,Harness</a:t>
            </a:r>
            <a:r>
              <a:rPr lang="en-US" sz="1200" b="1" i="0" dirty="0">
                <a:solidFill>
                  <a:srgbClr val="555555"/>
                </a:solidFill>
                <a:latin typeface="Segoe UI"/>
              </a:rPr>
              <a:t>, Context Engineering, and Lessons Learned,” arXiv:2603.05344, 2026.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55555"/>
                </a:solidFill>
                <a:latin typeface="Segoe UI"/>
              </a:rPr>
              <a:t>[2] X. Lou et al., “</a:t>
            </a:r>
            <a:r>
              <a:rPr lang="en-US" sz="1200" b="1" i="0" dirty="0" err="1">
                <a:solidFill>
                  <a:srgbClr val="555555"/>
                </a:solidFill>
                <a:latin typeface="Segoe UI"/>
              </a:rPr>
              <a:t>AutoHarness</a:t>
            </a:r>
            <a:r>
              <a:rPr lang="en-US" sz="1200" b="1" i="0" dirty="0">
                <a:solidFill>
                  <a:srgbClr val="555555"/>
                </a:solidFill>
                <a:latin typeface="Segoe UI"/>
              </a:rPr>
              <a:t>: Improving LLM Agents by Automatically Synthesizing </a:t>
            </a:r>
            <a:r>
              <a:rPr lang="en-US" sz="1200" b="1" i="0" dirty="0" err="1">
                <a:solidFill>
                  <a:srgbClr val="555555"/>
                </a:solidFill>
                <a:latin typeface="Segoe UI"/>
              </a:rPr>
              <a:t>aCode</a:t>
            </a:r>
            <a:r>
              <a:rPr lang="en-US" sz="1200" b="1" i="0" dirty="0">
                <a:solidFill>
                  <a:srgbClr val="555555"/>
                </a:solidFill>
                <a:latin typeface="Segoe UI"/>
              </a:rPr>
              <a:t> Harness,” arXiv:2603.03329, 2026.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[3] W. Cao et al., “Coding Agents are Effective Long-Context Processors,” arXiv:2603.20432,2026.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[4] M. 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Robeyns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 et al., “A Self-Improving Coding Agent,” arXiv:2504.15228,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[5] X. Deng et al., “SWE-Bench Pro: Can AI Agents Solve Long-Horizon Software Engineer-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ing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 Tasks?” arXiv:2509.16941,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[6] M. V. T. Thai et al., “SWE-EVO: Benchmarking Coding Agents in Long-Horizon Software Evolution Scenarios,” arXiv:2512.18470,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[7] T. 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Prathifkumar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 et al., “Does SWE-Bench-Verified Test Agent Ability or Model Memory?” arXiv:2512.10218,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[8] L. Fu et al., “Automatically Benchmarking LLM Code Agents through Agent-Driven An-notation and Evaluation,” arXiv:2510.24358,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[9] J. Xu et al., “SWE-Compass: Towards Unified Evaluation of Agentic Coding Abilities for Large Language Models,” arXiv:2511.05459,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[10] P. 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Chhikara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 et al., “Mem0: Building Production-Ready AI Agents with Scalable Long-Term Memory,” arXiv:2504.19413,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[11] W. Xu et al., “A-MEM: Agentic Memory for LLM Agents,” arXiv:2502.12110,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[12] Y. Qin et al., “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ToolLLM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: Facilitating Large Language Models to Master 16000+ Real-world APIs,” arXiv:2307.16789, ICLR 2024.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[13] Y. Du et al., “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AnyTool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: Self-Reflective, Hierarchical Agents for Large-Scale API Use,” arXiv:2402.04253, ACL 2024.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[14] S. Yuan et al., “EASYTOOL: Enhancing LLM-based Agents with Concise Tool 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Instruc-tion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,” arXiv:2401.06201, ACL Findings 2024.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[15] C. Ma et al., “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AgentBoard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: An Analytical Evaluation Board of Multi-Turn LLM Agents,” arXiv:2401.13178, </a:t>
            </a:r>
            <a:r>
              <a:rPr lang="en-US" sz="1200" b="1" dirty="0" err="1">
                <a:solidFill>
                  <a:srgbClr val="555555"/>
                </a:solidFill>
                <a:latin typeface="Segoe UI"/>
              </a:rPr>
              <a:t>NeurIPS</a:t>
            </a:r>
            <a:r>
              <a:rPr lang="en-US" sz="1200" b="1" dirty="0">
                <a:solidFill>
                  <a:srgbClr val="555555"/>
                </a:solidFill>
                <a:latin typeface="Segoe UI"/>
              </a:rPr>
              <a:t> 2024.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[16] “AI Agentic Programming Survey,” arXiv:2508.11126,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[17] J. Wang et al., “Illuminating LLM Coding Agents: Visual Analytics for Deeper Under-standing and Enhancement,” arXiv:2508.12555, IEEE TVCG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[18] L. Wang et al., “A Survey on Large Language Model based Autonomous Agents,” arXiv:2308.11432, Frontiers of Computer Science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555555"/>
                </a:solidFill>
                <a:latin typeface="Segoe UI"/>
              </a:rPr>
              <a:t>[19] “Survey on Evaluation of LLM-based Agents,” arXiv:2503.16416, 2025.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sz="1200" b="1" i="0" dirty="0">
              <a:solidFill>
                <a:srgbClr val="555555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4898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2631</Words>
  <Application>Microsoft Office PowerPoint</Application>
  <PresentationFormat>Widescreen</PresentationFormat>
  <Paragraphs>402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 Hoang</cp:lastModifiedBy>
  <cp:revision>8</cp:revision>
  <dcterms:created xsi:type="dcterms:W3CDTF">2013-01-27T09:14:16Z</dcterms:created>
  <dcterms:modified xsi:type="dcterms:W3CDTF">2026-04-10T15:52:25Z</dcterms:modified>
  <cp:category/>
</cp:coreProperties>
</file>